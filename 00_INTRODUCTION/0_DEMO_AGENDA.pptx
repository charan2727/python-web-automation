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60" r:id="rId1"/>
  </p:sldMasterIdLst>
  <p:notesMasterIdLst>
    <p:notesMasterId r:id="rId16"/>
  </p:notesMasterIdLst>
  <p:sldIdLst>
    <p:sldId id="257" r:id="rId2"/>
    <p:sldId id="258" r:id="rId3"/>
    <p:sldId id="259" r:id="rId4"/>
    <p:sldId id="271" r:id="rId5"/>
    <p:sldId id="272" r:id="rId6"/>
    <p:sldId id="266" r:id="rId7"/>
    <p:sldId id="274" r:id="rId8"/>
    <p:sldId id="269" r:id="rId9"/>
    <p:sldId id="273" r:id="rId10"/>
    <p:sldId id="278" r:id="rId11"/>
    <p:sldId id="279" r:id="rId12"/>
    <p:sldId id="277" r:id="rId13"/>
    <p:sldId id="281" r:id="rId14"/>
    <p:sldId id="280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17.795%" autoAdjust="0"/>
    <p:restoredTop sz="95.404%" autoAdjust="0"/>
  </p:normalViewPr>
  <p:slideViewPr>
    <p:cSldViewPr snapToGrid="0">
      <p:cViewPr varScale="1">
        <p:scale>
          <a:sx n="119" d="100"/>
          <a:sy n="119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slide" Target="slides/slide12.xml"/><Relationship Id="rId18" Type="http://purl.oclc.org/ooxml/officeDocument/relationships/presProps" Target="presProps.xml"/><Relationship Id="rId3" Type="http://purl.oclc.org/ooxml/officeDocument/relationships/slide" Target="slides/slide2.xml"/><Relationship Id="rId21" Type="http://purl.oclc.org/ooxml/officeDocument/relationships/tableStyles" Target="tableStyles.xml"/><Relationship Id="rId7" Type="http://purl.oclc.org/ooxml/officeDocument/relationships/slide" Target="slides/slide6.xml"/><Relationship Id="rId12" Type="http://purl.oclc.org/ooxml/officeDocument/relationships/slide" Target="slides/slide11.xml"/><Relationship Id="rId17" Type="http://purl.oclc.org/ooxml/officeDocument/relationships/tags" Target="tags/tag1.xml"/><Relationship Id="rId2" Type="http://purl.oclc.org/ooxml/officeDocument/relationships/slide" Target="slides/slide1.xml"/><Relationship Id="rId16" Type="http://purl.oclc.org/ooxml/officeDocument/relationships/notesMaster" Target="notesMasters/notesMaster1.xml"/><Relationship Id="rId20" Type="http://purl.oclc.org/ooxml/officeDocument/relationships/theme" Target="theme/theme1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slide" Target="slides/slide10.xml"/><Relationship Id="rId5" Type="http://purl.oclc.org/ooxml/officeDocument/relationships/slide" Target="slides/slide4.xml"/><Relationship Id="rId15" Type="http://purl.oclc.org/ooxml/officeDocument/relationships/slide" Target="slides/slide14.xml"/><Relationship Id="rId10" Type="http://purl.oclc.org/ooxml/officeDocument/relationships/slide" Target="slides/slide9.xml"/><Relationship Id="rId19" Type="http://purl.oclc.org/ooxml/officeDocument/relationships/viewProps" Target="viewProps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3C087-7D7C-4A3A-806D-69A20DECCB3E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EC0EB-6609-42FB-8995-1E1575298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8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3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E8EFF-BD10-447A-9767-B39BEDD3BE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82326"/>
      </p:ext>
    </p:extLst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E8EFF-BD10-447A-9767-B39BEDD3BE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95625"/>
      </p:ext>
    </p:extLst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E8EFF-BD10-447A-9767-B39BEDD3BE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80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86836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92379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30952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1206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23309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4890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08727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72786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21071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34121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8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D74B9C91-3A1F-4FAA-874D-41AD7BB1A89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6A355F32-537F-4D10-A4F8-CBE8C4BB2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95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purl.oclc.org/ooxml/officeDocument/relationships/hyperlink" Target="mailto:msctechnologies111@gmail.com" TargetMode="External"/><Relationship Id="rId2" Type="http://purl.oclc.org/ooxml/officeDocument/relationships/notesSlide" Target="../notesSlides/notesSlide1.xml"/><Relationship Id="rId1" Type="http://purl.oclc.org/ooxml/officeDocument/relationships/slideLayout" Target="../slideLayouts/slideLayout1.xml"/><Relationship Id="rId4" Type="http://purl.oclc.org/ooxml/officeDocument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.xml"/><Relationship Id="rId1" Type="http://purl.oclc.org/ooxml/officeDocument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.xml"/><Relationship Id="rId1" Type="http://purl.oclc.org/ooxml/officeDocument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purl.oclc.org/ooxml/officeDocument/relationships/hyperlink" Target="https://maps.app.goo.gl/xsE8z79PEpdTwfZ68" TargetMode="External"/><Relationship Id="rId2" Type="http://purl.oclc.org/ooxml/officeDocument/relationships/hyperlink" Target="https://www.youtube.com/@MSCTECHNOLOGIES-d4c" TargetMode="External"/><Relationship Id="rId1" Type="http://purl.oclc.org/ooxml/officeDocument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Layout" Target="../slideLayouts/slideLayout2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365" y="1161797"/>
            <a:ext cx="11940988" cy="5099153"/>
          </a:xfrm>
        </p:spPr>
        <p:txBody>
          <a:bodyPr>
            <a:normAutofit fontScale="90%"/>
          </a:bodyPr>
          <a:lstStyle/>
          <a:p>
            <a:r>
              <a:rPr lang="en-US" sz="8900" b="1" dirty="0">
                <a:solidFill>
                  <a:srgbClr val="FFFF00"/>
                </a:solidFill>
                <a:latin typeface="Baskerville Old Face" panose="02020602080505020303" pitchFamily="18" charset="0"/>
              </a:rPr>
              <a:t>MSC TECHNOLOGIES </a:t>
            </a:r>
            <a:br>
              <a:rPr lang="en-US" b="1" i="1" dirty="0">
                <a:solidFill>
                  <a:srgbClr val="FF0000"/>
                </a:solidFill>
                <a:latin typeface="Baskerville Old Face" panose="02020602080505020303" pitchFamily="18" charset="0"/>
              </a:rPr>
            </a:br>
            <a:r>
              <a:rPr lang="en-US" sz="4400" b="1" dirty="0">
                <a:solidFill>
                  <a:srgbClr val="00B050"/>
                </a:solidFill>
                <a:latin typeface="Baskerville Old Face" panose="02020602080505020303" pitchFamily="18" charset="0"/>
              </a:rPr>
              <a:t>Job Oriented Training with Real Time</a:t>
            </a:r>
            <a:br>
              <a:rPr lang="en-US" sz="3600" b="1" dirty="0">
                <a:solidFill>
                  <a:srgbClr val="00B050"/>
                </a:solidFill>
                <a:latin typeface="Baskerville Old Face" panose="02020602080505020303" pitchFamily="18" charset="0"/>
              </a:rPr>
            </a:br>
            <a:r>
              <a:rPr lang="en-US" sz="3600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JOB IN 90 DAY</a:t>
            </a:r>
            <a:br>
              <a:rPr lang="en-US" sz="3600" b="1" dirty="0">
                <a:solidFill>
                  <a:srgbClr val="7030A0"/>
                </a:solidFill>
                <a:latin typeface="Baskerville Old Face" panose="02020602080505020303" pitchFamily="18" charset="0"/>
              </a:rPr>
            </a:br>
            <a:br>
              <a:rPr lang="en-US" sz="3600" b="1" dirty="0">
                <a:solidFill>
                  <a:srgbClr val="7030A0"/>
                </a:solidFill>
                <a:latin typeface="Baskerville Old Face" panose="02020602080505020303" pitchFamily="18" charset="0"/>
              </a:rPr>
            </a:br>
            <a:r>
              <a:rPr lang="en-US" sz="3100" b="1" dirty="0">
                <a:solidFill>
                  <a:srgbClr val="FF0000"/>
                </a:solidFill>
              </a:rPr>
              <a:t>Mobile : 9148102585,       : 8121203075  : </a:t>
            </a:r>
            <a:r>
              <a:rPr lang="en-US" sz="31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msctechnologies111@gmail.com</a:t>
            </a:r>
            <a:b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</a:br>
            <a:br>
              <a:rPr lang="en-US" sz="1800" dirty="0">
                <a:solidFill>
                  <a:srgbClr val="00B0F0"/>
                </a:solidFill>
                <a:latin typeface="Calibri" panose="020F0502020204030204" pitchFamily="34" charset="0"/>
              </a:rPr>
            </a:br>
            <a:br>
              <a:rPr lang="en-US" sz="1800" dirty="0">
                <a:solidFill>
                  <a:srgbClr val="00B0F0"/>
                </a:solidFill>
                <a:latin typeface="Calibri" panose="020F0502020204030204" pitchFamily="34" charset="0"/>
              </a:rPr>
            </a:br>
            <a:br>
              <a:rPr lang="en-US" sz="1800" dirty="0">
                <a:solidFill>
                  <a:srgbClr val="00B0F0"/>
                </a:solidFill>
                <a:latin typeface="Calibri" panose="020F0502020204030204" pitchFamily="34" charset="0"/>
              </a:rPr>
            </a:br>
            <a:br>
              <a:rPr lang="en-US" dirty="0"/>
            </a:br>
            <a:endParaRPr lang="en-US" sz="2700" b="1" dirty="0">
              <a:solidFill>
                <a:schemeClr val="accent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40148" y="378372"/>
            <a:ext cx="420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                </a:t>
            </a:r>
          </a:p>
          <a:p>
            <a:r>
              <a:rPr lang="en-US" dirty="0">
                <a:solidFill>
                  <a:schemeClr val="accent6"/>
                </a:solidFill>
              </a:rPr>
              <a:t>        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7E4CB-F452-270D-7CAE-D51EEBC40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957" y="4144790"/>
            <a:ext cx="341877" cy="3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94657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7145"/>
          </a:xfrm>
        </p:spPr>
        <p:txBody>
          <a:bodyPr>
            <a:normAutofit/>
          </a:bodyPr>
          <a:lstStyle/>
          <a:p>
            <a:pPr marL="22860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DEMO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5834"/>
            <a:ext cx="10515600" cy="4821129"/>
          </a:xfrm>
        </p:spPr>
        <p:txBody>
          <a:bodyPr>
            <a:normAutofit fontScale="92.5%" lnSpcReduction="10%"/>
          </a:bodyPr>
          <a:lstStyle/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WHAT IS PYTHON 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ADVANTAGES OF PYTHON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rgbClr val="00B050"/>
                </a:solidFill>
              </a:rPr>
              <a:t>WHERE PYTHON IS USED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PYTHON TOPICS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ROBOT FRAMEWORK &amp; PYTEST &amp; PYTEST BDD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SELENIUM TOPICS &amp; PLAYWRIGHT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REST API TOPICS 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rgbClr val="00B050"/>
                </a:solidFill>
              </a:rPr>
              <a:t>OUR SUCCESS METHODS TO GET A JOB &amp; SUSTAIN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B050"/>
                </a:solidFill>
              </a:rPr>
              <a:t>KEY BENEFITS FOR STUDENTS</a:t>
            </a:r>
          </a:p>
          <a:p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014944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What is Python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7035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High-level Programing language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dirty="0">
                <a:solidFill>
                  <a:srgbClr val="00B050"/>
                </a:solidFill>
              </a:rPr>
              <a:t> Developed by Guido Van Rossum in 1989 </a:t>
            </a:r>
            <a:r>
              <a:rPr lang="en-US" dirty="0">
                <a:solidFill>
                  <a:srgbClr val="00B050"/>
                </a:solidFill>
              </a:rPr>
              <a:t> </a:t>
            </a:r>
            <a:r>
              <a:rPr lang="en-US" sz="2800" b="1" dirty="0">
                <a:solidFill>
                  <a:srgbClr val="00B050"/>
                </a:solidFill>
              </a:rPr>
              <a:t>and first released in 1991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dirty="0">
                <a:solidFill>
                  <a:srgbClr val="00B050"/>
                </a:solidFill>
              </a:rPr>
              <a:t> Borrowed features from</a:t>
            </a:r>
          </a:p>
          <a:p>
            <a:pPr marL="685800" lvl="2"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</a:rPr>
              <a:t>Functional Programing from C</a:t>
            </a:r>
          </a:p>
          <a:p>
            <a:pPr marL="685800" lvl="2"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</a:rPr>
              <a:t>OOP from C++</a:t>
            </a:r>
          </a:p>
          <a:p>
            <a:pPr marL="685800" lvl="2"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</a:rPr>
              <a:t>Scripting from Perl and Shell script</a:t>
            </a:r>
          </a:p>
          <a:p>
            <a:pPr marL="685800" lvl="2"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</a:rPr>
              <a:t>Modular from Modula 3</a:t>
            </a:r>
          </a:p>
          <a:p>
            <a:pPr marL="685800" lvl="2"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</a:rPr>
              <a:t>Syntax from C and ABC Language </a:t>
            </a:r>
          </a:p>
          <a:p>
            <a:pPr marL="228600" lvl="1">
              <a:spcBef>
                <a:spcPts val="1000"/>
              </a:spcBef>
            </a:pPr>
            <a:endParaRPr lang="en-US" sz="2800" b="1" dirty="0">
              <a:solidFill>
                <a:srgbClr val="0070C0"/>
              </a:solidFill>
            </a:endParaRPr>
          </a:p>
          <a:p>
            <a:pPr marL="228600" lvl="1">
              <a:spcBef>
                <a:spcPts val="1000"/>
              </a:spcBef>
            </a:pPr>
            <a:endParaRPr lang="en-US" sz="2800" b="1" dirty="0">
              <a:solidFill>
                <a:srgbClr val="0070C0"/>
              </a:solidFill>
            </a:endParaRPr>
          </a:p>
          <a:p>
            <a:pPr marL="0" lv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13639"/>
      </p:ext>
    </p:extLst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Why Python/ Advantages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Python is easy to learn and use</a:t>
            </a:r>
          </a:p>
          <a:p>
            <a:r>
              <a:rPr lang="en-US" b="1" dirty="0">
                <a:solidFill>
                  <a:srgbClr val="00B050"/>
                </a:solidFill>
              </a:rPr>
              <a:t>Simple easy-to-use syntax</a:t>
            </a:r>
          </a:p>
          <a:p>
            <a:r>
              <a:rPr lang="en-US" b="1" dirty="0">
                <a:solidFill>
                  <a:srgbClr val="00B050"/>
                </a:solidFill>
              </a:rPr>
              <a:t>Require lesser coding</a:t>
            </a:r>
          </a:p>
          <a:p>
            <a:r>
              <a:rPr lang="en-US" dirty="0">
                <a:solidFill>
                  <a:srgbClr val="00B050"/>
                </a:solidFill>
              </a:rPr>
              <a:t>Modular</a:t>
            </a:r>
          </a:p>
          <a:p>
            <a:r>
              <a:rPr lang="en-US" dirty="0">
                <a:solidFill>
                  <a:srgbClr val="00B050"/>
                </a:solidFill>
              </a:rPr>
              <a:t>Dynamic</a:t>
            </a:r>
          </a:p>
          <a:p>
            <a:r>
              <a:rPr lang="en-US" dirty="0">
                <a:solidFill>
                  <a:srgbClr val="00B050"/>
                </a:solidFill>
              </a:rPr>
              <a:t>Object-oriented and  Packages</a:t>
            </a:r>
          </a:p>
          <a:p>
            <a:r>
              <a:rPr lang="en-US" dirty="0">
                <a:solidFill>
                  <a:srgbClr val="00B050"/>
                </a:solidFill>
              </a:rPr>
              <a:t>Interpreted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Portable</a:t>
            </a:r>
          </a:p>
          <a:p>
            <a:r>
              <a:rPr lang="en-US" dirty="0">
                <a:solidFill>
                  <a:srgbClr val="00B050"/>
                </a:solidFill>
              </a:rPr>
              <a:t>High level</a:t>
            </a:r>
          </a:p>
          <a:p>
            <a:r>
              <a:rPr lang="en-US" sz="2400" dirty="0">
                <a:solidFill>
                  <a:srgbClr val="00B050"/>
                </a:solidFill>
              </a:rPr>
              <a:t>Automatic Memory Management.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Well Defined Libraries and open-source Frameworks built with python</a:t>
            </a:r>
          </a:p>
          <a:p>
            <a:r>
              <a:rPr lang="en-US" dirty="0">
                <a:solidFill>
                  <a:srgbClr val="00B050"/>
                </a:solidFill>
              </a:rPr>
              <a:t>Compatible with Major Platforms</a:t>
            </a:r>
          </a:p>
          <a:p>
            <a:r>
              <a:rPr lang="en-US" dirty="0">
                <a:solidFill>
                  <a:srgbClr val="00B050"/>
                </a:solidFill>
              </a:rPr>
              <a:t>Open Source </a:t>
            </a:r>
          </a:p>
        </p:txBody>
      </p:sp>
    </p:spTree>
    <p:extLst>
      <p:ext uri="{BB962C8B-B14F-4D97-AF65-F5344CB8AC3E}">
        <p14:creationId xmlns:p14="http://schemas.microsoft.com/office/powerpoint/2010/main" val="1722200675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Where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00%"/>
              </a:lnSpc>
            </a:pPr>
            <a:r>
              <a:rPr lang="en-US" b="1" dirty="0">
                <a:solidFill>
                  <a:srgbClr val="00B050"/>
                </a:solidFill>
              </a:rPr>
              <a:t>Test frameworks</a:t>
            </a:r>
          </a:p>
          <a:p>
            <a:pPr>
              <a:lnSpc>
                <a:spcPct val="100%"/>
              </a:lnSpc>
            </a:pPr>
            <a:r>
              <a:rPr lang="en-US" b="1" dirty="0">
                <a:solidFill>
                  <a:srgbClr val="00B050"/>
                </a:solidFill>
              </a:rPr>
              <a:t>Automation</a:t>
            </a:r>
          </a:p>
          <a:p>
            <a:pPr>
              <a:lnSpc>
                <a:spcPct val="100%"/>
              </a:lnSpc>
            </a:pPr>
            <a:r>
              <a:rPr lang="en-IN" b="1" dirty="0">
                <a:solidFill>
                  <a:srgbClr val="00B050"/>
                </a:solidFill>
              </a:rPr>
              <a:t>AI &amp; Generative AI</a:t>
            </a:r>
            <a:endParaRPr lang="en-US" b="1" dirty="0">
              <a:solidFill>
                <a:srgbClr val="00B050"/>
              </a:solidFill>
            </a:endParaRPr>
          </a:p>
          <a:p>
            <a:pPr>
              <a:lnSpc>
                <a:spcPct val="100%"/>
              </a:lnSpc>
            </a:pPr>
            <a:r>
              <a:rPr lang="en-US" dirty="0">
                <a:solidFill>
                  <a:srgbClr val="00B050"/>
                </a:solidFill>
              </a:rPr>
              <a:t>Machine Learning</a:t>
            </a:r>
          </a:p>
          <a:p>
            <a:pPr>
              <a:lnSpc>
                <a:spcPct val="100%"/>
              </a:lnSpc>
            </a:pPr>
            <a:r>
              <a:rPr lang="en-US" dirty="0">
                <a:solidFill>
                  <a:srgbClr val="00B050"/>
                </a:solidFill>
              </a:rPr>
              <a:t>Web Application</a:t>
            </a:r>
          </a:p>
          <a:p>
            <a:pPr>
              <a:lnSpc>
                <a:spcPct val="100%"/>
              </a:lnSpc>
            </a:pPr>
            <a:r>
              <a:rPr lang="en-US" dirty="0">
                <a:solidFill>
                  <a:srgbClr val="00B050"/>
                </a:solidFill>
              </a:rPr>
              <a:t>Graphical user interfaces</a:t>
            </a:r>
          </a:p>
          <a:p>
            <a:pPr>
              <a:lnSpc>
                <a:spcPct val="100%"/>
              </a:lnSpc>
            </a:pPr>
            <a:r>
              <a:rPr lang="en-US" dirty="0">
                <a:solidFill>
                  <a:srgbClr val="00B050"/>
                </a:solidFill>
              </a:rPr>
              <a:t>Multimedia</a:t>
            </a:r>
          </a:p>
          <a:p>
            <a:pPr>
              <a:lnSpc>
                <a:spcPct val="100%"/>
              </a:lnSpc>
            </a:pPr>
            <a:r>
              <a:rPr lang="en-US" dirty="0">
                <a:solidFill>
                  <a:srgbClr val="00B050"/>
                </a:solidFill>
              </a:rPr>
              <a:t>System administration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1290" y="1825625"/>
            <a:ext cx="5181600" cy="4351338"/>
          </a:xfrm>
        </p:spPr>
        <p:txBody>
          <a:bodyPr>
            <a:normAutofit lnSpcReduction="10%"/>
          </a:bodyPr>
          <a:lstStyle/>
          <a:p>
            <a:r>
              <a:rPr lang="en-US" dirty="0">
                <a:solidFill>
                  <a:srgbClr val="00B050"/>
                </a:solidFill>
              </a:rPr>
              <a:t>Scientific and Numeric Applications </a:t>
            </a:r>
          </a:p>
          <a:p>
            <a:r>
              <a:rPr lang="en-US" dirty="0">
                <a:solidFill>
                  <a:srgbClr val="00B050"/>
                </a:solidFill>
              </a:rPr>
              <a:t>Web scraping</a:t>
            </a:r>
          </a:p>
          <a:p>
            <a:r>
              <a:rPr lang="en-US" dirty="0">
                <a:solidFill>
                  <a:srgbClr val="00B050"/>
                </a:solidFill>
              </a:rPr>
              <a:t>Desktop applications</a:t>
            </a:r>
          </a:p>
          <a:p>
            <a:r>
              <a:rPr lang="en-US" dirty="0">
                <a:solidFill>
                  <a:srgbClr val="00B050"/>
                </a:solidFill>
              </a:rPr>
              <a:t>Database Access</a:t>
            </a:r>
          </a:p>
          <a:p>
            <a:r>
              <a:rPr lang="en-US" dirty="0">
                <a:solidFill>
                  <a:srgbClr val="00B050"/>
                </a:solidFill>
              </a:rPr>
              <a:t>Embedded scripting language</a:t>
            </a:r>
          </a:p>
          <a:p>
            <a:r>
              <a:rPr lang="en-US" dirty="0">
                <a:solidFill>
                  <a:srgbClr val="00B050"/>
                </a:solidFill>
              </a:rPr>
              <a:t>Network Programming</a:t>
            </a:r>
          </a:p>
          <a:p>
            <a:pPr>
              <a:lnSpc>
                <a:spcPct val="100%"/>
              </a:lnSpc>
            </a:pPr>
            <a:r>
              <a:rPr lang="en-US" dirty="0">
                <a:solidFill>
                  <a:srgbClr val="00B050"/>
                </a:solidFill>
              </a:rPr>
              <a:t>Text processing</a:t>
            </a:r>
          </a:p>
          <a:p>
            <a:pPr>
              <a:lnSpc>
                <a:spcPct val="100%"/>
              </a:lnSpc>
            </a:pPr>
            <a:r>
              <a:rPr lang="en-US" dirty="0">
                <a:solidFill>
                  <a:srgbClr val="00B050"/>
                </a:solidFill>
              </a:rPr>
              <a:t>Image processing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189335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Python Basic and Advance Topics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Data Types</a:t>
            </a:r>
          </a:p>
          <a:p>
            <a:r>
              <a:rPr lang="en-US" dirty="0">
                <a:solidFill>
                  <a:srgbClr val="00B050"/>
                </a:solidFill>
              </a:rPr>
              <a:t>Slicing</a:t>
            </a:r>
          </a:p>
          <a:p>
            <a:r>
              <a:rPr lang="en-US" dirty="0">
                <a:solidFill>
                  <a:srgbClr val="00B050"/>
                </a:solidFill>
              </a:rPr>
              <a:t>Conditional Operations</a:t>
            </a:r>
          </a:p>
          <a:p>
            <a:r>
              <a:rPr lang="en-US" dirty="0">
                <a:solidFill>
                  <a:srgbClr val="00B050"/>
                </a:solidFill>
              </a:rPr>
              <a:t>Loops</a:t>
            </a:r>
          </a:p>
          <a:p>
            <a:r>
              <a:rPr lang="en-US" dirty="0">
                <a:solidFill>
                  <a:srgbClr val="00B050"/>
                </a:solidFill>
              </a:rPr>
              <a:t>Functions</a:t>
            </a:r>
          </a:p>
          <a:p>
            <a:r>
              <a:rPr lang="en-US" dirty="0">
                <a:solidFill>
                  <a:srgbClr val="00B050"/>
                </a:solidFill>
              </a:rPr>
              <a:t>File Handling</a:t>
            </a:r>
          </a:p>
          <a:p>
            <a:r>
              <a:rPr lang="en-US" dirty="0">
                <a:solidFill>
                  <a:srgbClr val="00B050"/>
                </a:solidFill>
              </a:rPr>
              <a:t>Regular Expressions</a:t>
            </a:r>
          </a:p>
          <a:p>
            <a:r>
              <a:rPr lang="en-US" dirty="0">
                <a:solidFill>
                  <a:srgbClr val="00B050"/>
                </a:solidFill>
              </a:rPr>
              <a:t>Modules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OOP</a:t>
            </a:r>
          </a:p>
          <a:p>
            <a:r>
              <a:rPr lang="en-US" dirty="0">
                <a:solidFill>
                  <a:srgbClr val="00B050"/>
                </a:solidFill>
              </a:rPr>
              <a:t>Exceptions</a:t>
            </a:r>
          </a:p>
          <a:p>
            <a:r>
              <a:rPr lang="en-US" dirty="0">
                <a:solidFill>
                  <a:srgbClr val="00B050"/>
                </a:solidFill>
              </a:rPr>
              <a:t>Threading</a:t>
            </a:r>
          </a:p>
          <a:p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paramiko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Requests</a:t>
            </a:r>
          </a:p>
          <a:p>
            <a:r>
              <a:rPr lang="en-US" dirty="0" err="1">
                <a:solidFill>
                  <a:srgbClr val="00B050"/>
                </a:solidFill>
              </a:rPr>
              <a:t>sys,os</a:t>
            </a:r>
            <a:r>
              <a:rPr lang="en-US" dirty="0">
                <a:solidFill>
                  <a:srgbClr val="00B050"/>
                </a:solidFill>
              </a:rPr>
              <a:t> and re</a:t>
            </a:r>
          </a:p>
          <a:p>
            <a:r>
              <a:rPr lang="en-US" dirty="0">
                <a:solidFill>
                  <a:srgbClr val="00B050"/>
                </a:solidFill>
              </a:rPr>
              <a:t>Selenium</a:t>
            </a:r>
          </a:p>
          <a:p>
            <a:r>
              <a:rPr lang="en-US" dirty="0">
                <a:solidFill>
                  <a:srgbClr val="00B050"/>
                </a:solidFill>
              </a:rPr>
              <a:t>PYTEST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164716"/>
      </p:ext>
    </p:extLst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8B14-56CB-45F7-8837-C9B311B9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Robot Framework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71294-674B-4860-9134-B3D8D9BCDD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About Robot Framework</a:t>
            </a:r>
          </a:p>
          <a:p>
            <a:r>
              <a:rPr lang="en-US" dirty="0">
                <a:solidFill>
                  <a:srgbClr val="00B050"/>
                </a:solidFill>
              </a:rPr>
              <a:t>Robot File Structure</a:t>
            </a:r>
          </a:p>
          <a:p>
            <a:r>
              <a:rPr lang="en-US" dirty="0">
                <a:solidFill>
                  <a:srgbClr val="00B050"/>
                </a:solidFill>
              </a:rPr>
              <a:t>Variable operations</a:t>
            </a:r>
          </a:p>
          <a:p>
            <a:r>
              <a:rPr lang="en-US" dirty="0">
                <a:solidFill>
                  <a:srgbClr val="00B050"/>
                </a:solidFill>
              </a:rPr>
              <a:t>Conditional Statements </a:t>
            </a:r>
          </a:p>
          <a:p>
            <a:r>
              <a:rPr lang="en-US" dirty="0">
                <a:solidFill>
                  <a:srgbClr val="00B050"/>
                </a:solidFill>
              </a:rPr>
              <a:t>Loops</a:t>
            </a:r>
          </a:p>
          <a:p>
            <a:r>
              <a:rPr lang="en-US" dirty="0">
                <a:solidFill>
                  <a:srgbClr val="00B050"/>
                </a:solidFill>
              </a:rPr>
              <a:t>Create Keywords </a:t>
            </a:r>
          </a:p>
          <a:p>
            <a:r>
              <a:rPr lang="en-US" dirty="0">
                <a:solidFill>
                  <a:srgbClr val="00B050"/>
                </a:solidFill>
              </a:rPr>
              <a:t>Create and usage of Resource Files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17BC6-76D7-4C0C-A23F-342343FA5E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Use Python functions in Robot File</a:t>
            </a:r>
          </a:p>
          <a:p>
            <a:r>
              <a:rPr lang="en-US" dirty="0">
                <a:solidFill>
                  <a:srgbClr val="00B050"/>
                </a:solidFill>
              </a:rPr>
              <a:t>Resource and Library </a:t>
            </a:r>
          </a:p>
          <a:p>
            <a:r>
              <a:rPr lang="en-US" dirty="0">
                <a:solidFill>
                  <a:srgbClr val="00B050"/>
                </a:solidFill>
              </a:rPr>
              <a:t>About Collections and Operating System and String Libraries </a:t>
            </a:r>
          </a:p>
          <a:p>
            <a:r>
              <a:rPr lang="en-US" dirty="0">
                <a:solidFill>
                  <a:srgbClr val="00B050"/>
                </a:solidFill>
              </a:rPr>
              <a:t>Setup and Tear down section and Suite Setups </a:t>
            </a:r>
          </a:p>
          <a:p>
            <a:r>
              <a:rPr lang="en-US" dirty="0">
                <a:solidFill>
                  <a:srgbClr val="00B050"/>
                </a:solidFill>
              </a:rPr>
              <a:t>Tags</a:t>
            </a:r>
          </a:p>
          <a:p>
            <a:r>
              <a:rPr lang="en-US" dirty="0">
                <a:solidFill>
                  <a:srgbClr val="00B050"/>
                </a:solidFill>
              </a:rPr>
              <a:t>Execution options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111617"/>
      </p:ext>
    </p:extLst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Selenium &amp; Playwright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.5%" lnSpcReduction="10%"/>
          </a:bodyPr>
          <a:lstStyle/>
          <a:p>
            <a:r>
              <a:rPr lang="en-US" dirty="0">
                <a:solidFill>
                  <a:srgbClr val="00B050"/>
                </a:solidFill>
              </a:rPr>
              <a:t>About Selenium</a:t>
            </a:r>
          </a:p>
          <a:p>
            <a:r>
              <a:rPr lang="en-US" dirty="0">
                <a:solidFill>
                  <a:srgbClr val="00B050"/>
                </a:solidFill>
              </a:rPr>
              <a:t>Element locators</a:t>
            </a:r>
          </a:p>
          <a:p>
            <a:r>
              <a:rPr lang="en-US" dirty="0">
                <a:solidFill>
                  <a:srgbClr val="00B050"/>
                </a:solidFill>
              </a:rPr>
              <a:t>Handle Popups </a:t>
            </a:r>
          </a:p>
          <a:p>
            <a:r>
              <a:rPr lang="en-US" dirty="0">
                <a:solidFill>
                  <a:srgbClr val="00B050"/>
                </a:solidFill>
              </a:rPr>
              <a:t>Double click operations</a:t>
            </a:r>
          </a:p>
          <a:p>
            <a:r>
              <a:rPr lang="en-US" dirty="0">
                <a:solidFill>
                  <a:srgbClr val="00B050"/>
                </a:solidFill>
              </a:rPr>
              <a:t>Scroll down</a:t>
            </a:r>
          </a:p>
          <a:p>
            <a:r>
              <a:rPr lang="en-US" dirty="0">
                <a:solidFill>
                  <a:srgbClr val="00B050"/>
                </a:solidFill>
              </a:rPr>
              <a:t>Switch to another tab</a:t>
            </a:r>
          </a:p>
          <a:p>
            <a:r>
              <a:rPr lang="en-US" dirty="0">
                <a:solidFill>
                  <a:srgbClr val="00B050"/>
                </a:solidFill>
              </a:rPr>
              <a:t>Page load timeout and page refresh.</a:t>
            </a:r>
          </a:p>
          <a:p>
            <a:r>
              <a:rPr lang="en-US" dirty="0">
                <a:solidFill>
                  <a:srgbClr val="00B050"/>
                </a:solidFill>
              </a:rPr>
              <a:t>Get window screenshot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.5%" lnSpcReduction="10%"/>
          </a:bodyPr>
          <a:lstStyle/>
          <a:p>
            <a:r>
              <a:rPr lang="en-US" dirty="0">
                <a:solidFill>
                  <a:srgbClr val="00B050"/>
                </a:solidFill>
              </a:rPr>
              <a:t>Get window title and text from element</a:t>
            </a:r>
          </a:p>
          <a:p>
            <a:r>
              <a:rPr lang="en-US" dirty="0">
                <a:solidFill>
                  <a:srgbClr val="00B050"/>
                </a:solidFill>
              </a:rPr>
              <a:t>Set Windows size</a:t>
            </a:r>
          </a:p>
          <a:p>
            <a:r>
              <a:rPr lang="en-US" dirty="0">
                <a:solidFill>
                  <a:srgbClr val="00B050"/>
                </a:solidFill>
              </a:rPr>
              <a:t>Waits(Implicit and Explicit)</a:t>
            </a:r>
          </a:p>
          <a:p>
            <a:r>
              <a:rPr lang="en-US" dirty="0">
                <a:solidFill>
                  <a:srgbClr val="00B050"/>
                </a:solidFill>
              </a:rPr>
              <a:t>Select drop down values</a:t>
            </a:r>
          </a:p>
          <a:p>
            <a:r>
              <a:rPr lang="en-US" dirty="0">
                <a:solidFill>
                  <a:srgbClr val="00B050"/>
                </a:solidFill>
              </a:rPr>
              <a:t>Switch to windows</a:t>
            </a:r>
          </a:p>
          <a:p>
            <a:r>
              <a:rPr lang="en-US" dirty="0">
                <a:solidFill>
                  <a:srgbClr val="00B050"/>
                </a:solidFill>
              </a:rPr>
              <a:t>Zoom operations</a:t>
            </a:r>
          </a:p>
          <a:p>
            <a:r>
              <a:rPr lang="en-US" dirty="0">
                <a:solidFill>
                  <a:srgbClr val="00B050"/>
                </a:solidFill>
              </a:rPr>
              <a:t>Select Check box and radio button</a:t>
            </a:r>
          </a:p>
          <a:p>
            <a:r>
              <a:rPr lang="en-US" dirty="0">
                <a:solidFill>
                  <a:srgbClr val="00B050"/>
                </a:solidFill>
              </a:rPr>
              <a:t>Navigators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28330204"/>
      </p:ext>
    </p:extLst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530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44824"/>
            <a:ext cx="10515600" cy="4627983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</a:rPr>
              <a:t>ABOUT WEB SERVICES 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</a:rPr>
              <a:t>HTTP Methods(GET, POST, PUT AND DELETE)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</a:rPr>
              <a:t>IMPLEMENT REST API WITH FLASK FRAMEWORK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</a:rPr>
              <a:t>API MANUAL TESTING WITH POSTMAN TOOL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</a:rPr>
              <a:t>API AUTOMATION WITH PYTHON REQUESTS MODULE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</a:rPr>
              <a:t>API AUTOMATION WITH ROBOT FRAMEWORK REQUESTS LIBRARY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</a:rPr>
              <a:t>HTTP RESPONSE CODES 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B050"/>
                </a:solidFill>
              </a:rPr>
              <a:t>VALIDATE API RESPONSE WITH ASSERT KEYWORD 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99404"/>
      </p:ext>
    </p:extLst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B736-61AB-4E34-A649-43928ECA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024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OUR SUCCESS METHODS TO GET A JOB &amp; SUSTAIN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739916-FE7D-4570-9774-9DF3F57500AD}"/>
              </a:ext>
            </a:extLst>
          </p:cNvPr>
          <p:cNvSpPr txBox="1">
            <a:spLocks/>
          </p:cNvSpPr>
          <p:nvPr/>
        </p:nvSpPr>
        <p:spPr>
          <a:xfrm>
            <a:off x="710005" y="1582220"/>
            <a:ext cx="10643795" cy="5034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%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WE PROVIDE THE RIGHT DIRECTION FOR LEARNING WITHOUT CONFUSION.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PRACTICAL SESSIONS BY STUDENTS ON EVERY TOPIC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PRACTICAL ASSIGNMENTS ON REAL-TIME TOPICS AND USE CASES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DETAILED AND CLEAR EXPLANATION OF A PROJECTS AND ROLES AND RESPONSIBILITIES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CREATE A RESUME WITH RELEVANT SKILLS AND NAUKRI PROFILE AS INDUSTRY REQUIREMENTS TO GET RECRUITERS ATTENTION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TRAINING ON REAL TIME CONCEPTS GIT, JIRA, LINUX, JENKINS AND MYSQL 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DAILY MOCK INTERVIEW ON TECHNICAL, MANAGER AND HR QUESTIONS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PERSONALIZED FEEDBACK AND MENTORING FOR IMPROVEMENT EACH STUDENT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WE TEACH STUDY TECHNIQUES TO BOOST MEMORY &amp; SPEED UP LEARNING</a:t>
            </a:r>
          </a:p>
          <a:p>
            <a:pPr marL="0" indent="0">
              <a:lnSpc>
                <a:spcPct val="150%"/>
              </a:lnSpc>
              <a:buNone/>
            </a:pPr>
            <a:r>
              <a:rPr lang="en-IN" sz="1400" b="1" dirty="0">
                <a:solidFill>
                  <a:srgbClr val="00B0F0"/>
                </a:solidFill>
                <a:latin typeface="Helvetica Neue" panose="02000503000000020004" pitchFamily="2" charset="0"/>
              </a:rPr>
              <a:t>Our Ultimate goal is to train students to crack interviews and sustain their jobs independently.</a:t>
            </a:r>
            <a:endParaRPr lang="en-US" sz="1400" b="1" dirty="0">
              <a:solidFill>
                <a:srgbClr val="00B0F0"/>
              </a:solidFill>
            </a:endParaRPr>
          </a:p>
          <a:p>
            <a:pPr marL="0" indent="0">
              <a:lnSpc>
                <a:spcPct val="150%"/>
              </a:lnSpc>
              <a:buNone/>
            </a:pPr>
            <a:endParaRPr lang="en-IN" sz="1400" b="1" dirty="0">
              <a:solidFill>
                <a:srgbClr val="0070C0"/>
              </a:solidFill>
            </a:endParaRPr>
          </a:p>
          <a:p>
            <a:endParaRPr 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766941"/>
      </p:ext>
    </p:extLst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888E-03F9-C0B7-2FCF-7F6E12C0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KEY BENEFITS FOR STUDENTS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268BF-95C2-7385-2952-D2CCB17C3886}"/>
              </a:ext>
            </a:extLst>
          </p:cNvPr>
          <p:cNvSpPr txBox="1"/>
          <p:nvPr/>
        </p:nvSpPr>
        <p:spPr>
          <a:xfrm>
            <a:off x="1050132" y="1348078"/>
            <a:ext cx="10091735" cy="534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70C0"/>
                </a:solidFill>
              </a:rPr>
              <a:t>    </a:t>
            </a:r>
            <a:r>
              <a:rPr lang="en-US" sz="1400" b="1" dirty="0">
                <a:solidFill>
                  <a:srgbClr val="00B050"/>
                </a:solidFill>
              </a:rPr>
              <a:t>100% JOB PLACEMENT </a:t>
            </a: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 </a:t>
            </a:r>
            <a:r>
              <a:rPr lang="en-GB" sz="1400" b="1" dirty="0">
                <a:solidFill>
                  <a:srgbClr val="00B050"/>
                </a:solidFill>
              </a:rPr>
              <a:t>AFTER GETTING JOB ALSO WE PROVIDE JOB SUPPORT AND ASSISTANCE </a:t>
            </a: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GB" sz="1400" b="1" dirty="0">
                <a:solidFill>
                  <a:srgbClr val="00B050"/>
                </a:solidFill>
              </a:rPr>
              <a:t>    </a:t>
            </a:r>
            <a:r>
              <a:rPr lang="en-IN" sz="1400" b="1" dirty="0">
                <a:solidFill>
                  <a:srgbClr val="00B050"/>
                </a:solidFill>
              </a:rPr>
              <a:t>FROM LAST 15 YEARS WE ARE FULLY DEDICATED ON PYTHON AUTOMATION TRAINING AND JOB PLACEMENTS</a:t>
            </a: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   WE FOLLOW EFFECTIVE TEACHING METHODS TO MAKE CONCEPTS SIMPLE AND CLEAR</a:t>
            </a:r>
            <a:endParaRPr lang="en-US" sz="1400" b="1" dirty="0">
              <a:solidFill>
                <a:srgbClr val="00B050"/>
              </a:solidFill>
            </a:endParaRP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 WE PROVIDE TRANING BY EXPERTS WITH REALTIME CONCEPTS</a:t>
            </a: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    OUR COURSES ARE DESIGNED AND SUMMARIZED BY EXPERTS TO MAKE LEARNING FAST AND EASY</a:t>
            </a: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   TRAINING ON AI TOOLS TO DEVELOP CODE AND DEBUG MORE EFFICIENTLY AND FASTER.</a:t>
            </a:r>
            <a:endParaRPr lang="en-US" sz="1400" b="1" dirty="0">
              <a:solidFill>
                <a:srgbClr val="00B050"/>
              </a:solidFill>
            </a:endParaRP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GB" sz="1400" b="1" dirty="0">
                <a:solidFill>
                  <a:srgbClr val="00B050"/>
                </a:solidFill>
              </a:rPr>
              <a:t>    24/7  WE PROVIDE ISOLATED PYTHON AUTOMATION ENVIRONMENT FOR PRACTICE AND LEARNING </a:t>
            </a: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 RIGHT PLACE TO MOVE MANUAL TESTING TO AUTOMATION and NON-IT to IT</a:t>
            </a: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 WE PROVIDE ALL REQUIRED DOCS FOR STUDENTS</a:t>
            </a: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endParaRPr lang="en-US" sz="1400" b="1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%"/>
              </a:lnSpc>
              <a:spcBef>
                <a:spcPts val="1000"/>
              </a:spcBef>
              <a:buFont typeface="Wingdings" panose="05000000000000000000" pitchFamily="2" charset="2"/>
              <a:buChar char="ü"/>
            </a:pPr>
            <a:endParaRPr lang="en-US" sz="1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745964"/>
      </p:ext>
    </p:extLst>
  </p:cSld>
  <p:clrMapOvr>
    <a:masterClrMapping/>
  </p:clrMapOvr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5308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			</a:t>
            </a:r>
            <a:r>
              <a:rPr lang="en-US" sz="8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Student</a:t>
            </a:r>
            <a:r>
              <a:rPr lang="en-US" sz="6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  </a:t>
            </a:r>
            <a:r>
              <a:rPr lang="en-US" sz="6600" b="1" dirty="0">
                <a:solidFill>
                  <a:srgbClr val="00B050"/>
                </a:solidFill>
                <a:latin typeface="Arial Nova Light" panose="020B0304020202020204" pitchFamily="34" charset="0"/>
              </a:rPr>
              <a:t>?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36027"/>
          </a:xfrm>
        </p:spPr>
        <p:txBody>
          <a:bodyPr>
            <a:normAutofit/>
          </a:bodyPr>
          <a:lstStyle/>
          <a:p>
            <a:pPr marL="0" indent="0">
              <a:lnSpc>
                <a:spcPct val="150%"/>
              </a:lnSpc>
              <a:buNone/>
            </a:pPr>
            <a:endParaRPr lang="en-US" sz="1400" b="1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70C0"/>
                </a:solidFill>
              </a:rPr>
              <a:t>    </a:t>
            </a:r>
            <a:r>
              <a:rPr lang="en-US" sz="1400" b="1" dirty="0">
                <a:solidFill>
                  <a:srgbClr val="00B050"/>
                </a:solidFill>
              </a:rPr>
              <a:t>DOES PYTHON IS DIFFICULT TO LEARN ?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IS ANY PRIOR CODING KNOWLEDGE IS REQUIRED TO LEARN PYTHON ?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WILL YOU COVER REALTIME CONCEPTS AND RESUME PREPARATION ?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CAN YOU PROVIDE EXPERIENCE REQUIRED DOCUMENTS ?  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CAN YOU PROVIDE SUPPORT AFTER GETTING JOB ?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HOW WILL BE THE INTERVIEW CALLS AFTER COMPLETING COURSE ?</a:t>
            </a:r>
          </a:p>
          <a:p>
            <a:pPr marL="342900" indent="-342900">
              <a:lnSpc>
                <a:spcPct val="150%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00B050"/>
                </a:solidFill>
              </a:rPr>
              <a:t>   </a:t>
            </a:r>
            <a:r>
              <a:rPr lang="en-IN" sz="1400" b="1" dirty="0">
                <a:solidFill>
                  <a:srgbClr val="00B050"/>
                </a:solidFill>
              </a:rPr>
              <a:t>CAN NON-IT PROFESSIONALS JOIN AND TRANSITION TO AUTOMATION CAREERS ?</a:t>
            </a:r>
          </a:p>
          <a:p>
            <a:pPr marL="342900" indent="-342900">
              <a:lnSpc>
                <a:spcPct val="160%"/>
              </a:lnSpc>
              <a:buFont typeface="Wingdings" panose="05000000000000000000" pitchFamily="2" charset="2"/>
              <a:buChar char="ü"/>
            </a:pPr>
            <a:r>
              <a:rPr lang="en-IN" sz="1400" b="1" dirty="0">
                <a:solidFill>
                  <a:srgbClr val="00B050"/>
                </a:solidFill>
              </a:rPr>
              <a:t>  HOW LONG WILL IT TAKE TO BECOME JOB-READY AFTER THE COURSE ?</a:t>
            </a:r>
            <a:endParaRPr lang="en-US" sz="1400" b="1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633459"/>
      </p:ext>
    </p:extLst>
  </p:cSld>
  <p:clrMapOvr>
    <a:masterClrMapping/>
  </p:clrMapOvr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86B9482B-5B67-04B7-52FA-1AA664A3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EF7A-EE09-6DBF-5174-0CAF2710D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308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			 </a:t>
            </a:r>
            <a:r>
              <a:rPr lang="en-US" sz="6600" b="1" dirty="0">
                <a:solidFill>
                  <a:srgbClr val="FF0000"/>
                </a:solidFill>
                <a:latin typeface="Arial Nova Light" panose="020B0304020202020204" pitchFamily="34" charset="0"/>
              </a:rPr>
              <a:t>Contact US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9DC4-8291-E98B-5D97-823C6E324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36027"/>
          </a:xfrm>
        </p:spPr>
        <p:txBody>
          <a:bodyPr>
            <a:normAutofit fontScale="92.5%" lnSpcReduction="20%"/>
          </a:bodyPr>
          <a:lstStyle/>
          <a:p>
            <a:pPr marL="0" indent="0">
              <a:lnSpc>
                <a:spcPct val="150%"/>
              </a:lnSpc>
              <a:buNone/>
            </a:pPr>
            <a:endParaRPr lang="en-US" sz="1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FF00"/>
                </a:solidFill>
              </a:rPr>
              <a:t>                          </a:t>
            </a:r>
            <a:r>
              <a:rPr lang="en-US" sz="4000" b="1" dirty="0">
                <a:solidFill>
                  <a:srgbClr val="FFFF00"/>
                </a:solidFill>
                <a:latin typeface="Cambria" panose="02040503050406030204" pitchFamily="18" charset="0"/>
              </a:rPr>
              <a:t>MSC TECHNOLOGIES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sz="2400" dirty="0">
                <a:solidFill>
                  <a:srgbClr val="0070C0"/>
                </a:solidFill>
              </a:rPr>
              <a:t>           </a:t>
            </a:r>
            <a:r>
              <a:rPr lang="en-US" sz="1700" b="1" dirty="0"/>
              <a:t>GROUD FLOOR, BESIDE RAMDEV MEDICAL, DENTAL COLLEGE MAIN ROAD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                                                               MUNNEKOLALU, BANGALORE- 560037</a:t>
            </a:r>
            <a:endParaRPr lang="en-US" sz="1700" dirty="0"/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00B050"/>
                </a:solidFill>
              </a:rPr>
              <a:t>                         </a:t>
            </a:r>
            <a:r>
              <a:rPr lang="en-US" sz="2600" b="1" dirty="0">
                <a:solidFill>
                  <a:srgbClr val="FFFF00"/>
                </a:solidFill>
              </a:rPr>
              <a:t>Mobile      : </a:t>
            </a:r>
            <a:r>
              <a:rPr lang="en-US" sz="2600" b="1" dirty="0">
                <a:solidFill>
                  <a:srgbClr val="00B050"/>
                </a:solidFill>
              </a:rPr>
              <a:t>9148102585, 8121203075     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B050"/>
                </a:solidFill>
              </a:rPr>
              <a:t>                         </a:t>
            </a:r>
            <a:r>
              <a:rPr lang="en-US" sz="2600" b="1" dirty="0">
                <a:solidFill>
                  <a:srgbClr val="FFFF00"/>
                </a:solidFill>
              </a:rPr>
              <a:t>EMAIL       : </a:t>
            </a:r>
            <a:r>
              <a:rPr lang="en-US" sz="2600" b="1" dirty="0">
                <a:solidFill>
                  <a:srgbClr val="00B050"/>
                </a:solidFill>
              </a:rPr>
              <a:t>msctechnologies111@gmail.com   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B050"/>
                </a:solidFill>
              </a:rPr>
              <a:t>                        </a:t>
            </a:r>
            <a:r>
              <a:rPr lang="en-US" sz="2600" b="1" dirty="0">
                <a:solidFill>
                  <a:srgbClr val="FFFF00"/>
                </a:solidFill>
              </a:rPr>
              <a:t>WEBSITE</a:t>
            </a:r>
            <a:r>
              <a:rPr lang="en-US" sz="2600" dirty="0">
                <a:solidFill>
                  <a:srgbClr val="FFFF00"/>
                </a:solidFill>
              </a:rPr>
              <a:t>    </a:t>
            </a:r>
            <a:r>
              <a:rPr lang="en-US" sz="2600" b="1" dirty="0">
                <a:solidFill>
                  <a:srgbClr val="FFFF00"/>
                </a:solidFill>
              </a:rPr>
              <a:t>: </a:t>
            </a:r>
            <a:r>
              <a:rPr lang="en-US" sz="26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</a:t>
            </a:r>
            <a:r>
              <a:rPr lang="en-US" sz="2600" dirty="0">
                <a:solidFill>
                  <a:srgbClr val="00B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MSCTECHNOLOGIES-d4c</a:t>
            </a:r>
            <a:endParaRPr lang="en-US" sz="2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B050"/>
                </a:solidFill>
              </a:rPr>
              <a:t>	           </a:t>
            </a:r>
            <a:r>
              <a:rPr lang="en-US" sz="2600" b="1" dirty="0">
                <a:solidFill>
                  <a:srgbClr val="FFFF00"/>
                </a:solidFill>
              </a:rPr>
              <a:t>LOCATION : </a:t>
            </a:r>
            <a:r>
              <a:rPr lang="en-US" sz="2600" dirty="0">
                <a:solidFill>
                  <a:srgbClr val="00B050"/>
                </a:solidFill>
                <a:hlinkClick r:id="rId3"/>
              </a:rPr>
              <a:t>https://maps.app.goo.gl/xsE8z79PEpdTwfZ68</a:t>
            </a:r>
            <a:endParaRPr lang="en-US" sz="26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451420"/>
      </p:ext>
    </p:extLst>
  </p:cSld>
  <p:clrMapOvr>
    <a:masterClrMapping/>
  </p:clrMapOvr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D53BC456-3D87-F3A3-DC50-710B3032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B708-6006-A8ED-2B9F-4DE9A0E1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308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			</a:t>
            </a:r>
            <a:r>
              <a:rPr lang="en-US" sz="8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Contact </a:t>
            </a:r>
            <a:r>
              <a:rPr lang="en-US" sz="60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US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832FC-D4E0-8992-5CD0-8EFB73301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0872"/>
            <a:ext cx="10515600" cy="4600780"/>
          </a:xfrm>
        </p:spPr>
        <p:txBody>
          <a:bodyPr>
            <a:normAutofit/>
          </a:bodyPr>
          <a:lstStyle/>
          <a:p>
            <a:pPr marL="0" indent="0">
              <a:lnSpc>
                <a:spcPct val="150%"/>
              </a:lnSpc>
              <a:buNone/>
            </a:pPr>
            <a:endParaRPr lang="en-US" sz="1400" b="1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pPr marL="3657600" lvl="8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MSC TECHNOLOGIES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CE813-9A76-7ED6-0DCC-04BAFDD09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018" y="1559017"/>
            <a:ext cx="7772400" cy="399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75041"/>
      </p:ext>
    </p:extLst>
  </p:cSld>
  <p:clrMapOvr>
    <a:masterClrMapping/>
  </p:clrMapOvr>
</p:sld>
</file>

<file path=ppt/tags/tag1.xml><?xml version="1.0" encoding="utf-8"?>
<p:tagLst xmlns:a="http://purl.oclc.org/ooxml/drawingml/main" xmlns:r="http://purl.oclc.org/ooxml/officeDocument/relationships" xmlns:p="http://purl.oclc.org/ooxml/presentationml/main">
  <p:tag name="LASTSLIDEVIEWED" val="257,1,PYTHON WORLD Job Oriented Training with Real Time Mobile : 7996060188         pythonworld9@gmail.com"/>
</p:tagLst>
</file>

<file path=ppt/theme/theme1.xml><?xml version="1.0" encoding="utf-8"?>
<a:theme xmlns:a="http://purl.oclc.org/ooxml/drawingml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purl.oclc.org/ooxml/officeDocument/extendedProperties" xmlns:vt="http://purl.oclc.org/ooxml/officeDocument/docPropsVTypes">
  <Template>Office 2013 - 2022 Theme</Template>
  <TotalTime>18714</TotalTime>
  <Words>806</Words>
  <Application>Microsoft Macintosh PowerPoint</Application>
  <PresentationFormat>Widescreen</PresentationFormat>
  <Paragraphs>168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Nova Light</vt:lpstr>
      <vt:lpstr>Baskerville Old Face</vt:lpstr>
      <vt:lpstr>Calibri</vt:lpstr>
      <vt:lpstr>Calibri Light</vt:lpstr>
      <vt:lpstr>Cambria</vt:lpstr>
      <vt:lpstr>Helvetica Neue</vt:lpstr>
      <vt:lpstr>Wingdings</vt:lpstr>
      <vt:lpstr>Office 2013 - 2022 Theme</vt:lpstr>
      <vt:lpstr>MSC TECHNOLOGIES  Job Oriented Training with Real Time JOB IN 90 DAY  Mobile : 9148102585,       : 8121203075  : msctechnologies111@gmail.com     </vt:lpstr>
      <vt:lpstr>DEMO ROADMAP</vt:lpstr>
      <vt:lpstr>What is Python </vt:lpstr>
      <vt:lpstr>Why Python/ Advantages </vt:lpstr>
      <vt:lpstr>Where Python</vt:lpstr>
      <vt:lpstr>Python Basic and Advance Topics </vt:lpstr>
      <vt:lpstr>Robot Framework Topics</vt:lpstr>
      <vt:lpstr>Selenium &amp; Playwright</vt:lpstr>
      <vt:lpstr>REST API</vt:lpstr>
      <vt:lpstr>OUR SUCCESS METHODS TO GET A JOB &amp; SUSTAIN</vt:lpstr>
      <vt:lpstr> KEY BENEFITS FOR STUDENTS</vt:lpstr>
      <vt:lpstr>   Student  ?</vt:lpstr>
      <vt:lpstr>    Contact US</vt:lpstr>
      <vt:lpstr>   Contact US</vt:lpstr>
    </vt:vector>
  </TitlesOfParts>
  <Company>Cisco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Chowdary Mellamputi -X (smellamp - SASKEN COMMUNICATION TECHNOLOGIES LTD at Cisco)</dc:creator>
  <cp:lastModifiedBy>Manvitha M Chowdary (24NPSMRT0389) - NPS Marathahalli</cp:lastModifiedBy>
  <cp:revision>333</cp:revision>
  <dcterms:created xsi:type="dcterms:W3CDTF">2018-07-24T17:07:58Z</dcterms:created>
  <dcterms:modified xsi:type="dcterms:W3CDTF">2025-10-06T22:06:01Z</dcterms:modified>
</cp:coreProperties>
</file>